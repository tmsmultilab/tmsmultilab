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2" r:id="rId3"/>
    <p:sldId id="278" r:id="rId4"/>
    <p:sldId id="280" r:id="rId5"/>
    <p:sldId id="271" r:id="rId6"/>
    <p:sldId id="283" r:id="rId7"/>
    <p:sldId id="282" r:id="rId8"/>
    <p:sldId id="281" r:id="rId9"/>
    <p:sldId id="270" r:id="rId10"/>
    <p:sldId id="279" r:id="rId11"/>
    <p:sldId id="276" r:id="rId12"/>
    <p:sldId id="272" r:id="rId13"/>
    <p:sldId id="273" r:id="rId14"/>
    <p:sldId id="265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FF"/>
    <a:srgbClr val="FF3300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>
    <p:restoredLeft sz="7001" autoAdjust="0"/>
    <p:restoredTop sz="93557" autoAdjust="0"/>
  </p:normalViewPr>
  <p:slideViewPr>
    <p:cSldViewPr snapToGrid="0" showGuides="1">
      <p:cViewPr varScale="1">
        <p:scale>
          <a:sx n="57" d="100"/>
          <a:sy n="57" d="100"/>
        </p:scale>
        <p:origin x="1408" y="2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39:49.826"/>
    </inkml:context>
    <inkml:brush xml:id="br0">
      <inkml:brushProperty name="width" value="0.14111" units="cm"/>
      <inkml:brushProperty name="height" value="0.14111" units="cm"/>
      <inkml:brushProperty name="color" value="#C00000"/>
    </inkml:brush>
  </inkml:definitions>
  <inkml:trace contextRef="#ctx0" brushRef="#br0">0 61 24338,'13847'-61'0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40:12.968"/>
    </inkml:context>
    <inkml:brush xml:id="br0">
      <inkml:brushProperty name="width" value="0.14111" units="cm"/>
      <inkml:brushProperty name="height" value="0.14111" units="cm"/>
      <inkml:brushProperty name="color" value="#00B050"/>
    </inkml:brush>
  </inkml:definitions>
  <inkml:trace contextRef="#ctx0" brushRef="#br0">0 9288 24575,'2'0'0,"0"-1"0,1 1 0,-1-1 0,0 1 0,0-1 0,0 0 0,0 0 0,0 0 0,-1 0 0,1 0 0,0 0 0,0-1 0,-1 1 0,1-1 0,0 1 0,-1-1 0,0 0 0,1 1 0,-1-1 0,0 0 0,0 0 0,0 0 0,0 0 0,1-2 0,1-5 0,1 0 0,-1 0 0,-1 0 0,2-11 0,2-32 0,-3-1 0,-5-82 0,-1 42 0,1-2448 0,4 1309 0,-4 1050 0,4-206 0,5 323 0,2 0 0,20-73 0,2-11 0,-30 141 0,103-715 0,-99 634 0,-3 48 0,1 0 0,11-52 0,-2 46 0,46-233 0,-20-110 0,-25 249 0,2-73 0,-14 161 0,1 1 0,20-101 0,0 59 0,-4-1 0,-4 0 0,2-138 0,-19-761 0,1 950 165,-11-61-1,-1-15-1858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40:44.486"/>
    </inkml:context>
    <inkml:brush xml:id="br0">
      <inkml:brushProperty name="width" value="0.14111" units="cm"/>
      <inkml:brushProperty name="height" value="0.14111" units="cm"/>
      <inkml:brushProperty name="color" value="#E97132"/>
    </inkml:brush>
  </inkml:definitions>
  <inkml:trace contextRef="#ctx0" brushRef="#br0">3030 0 24575,'1'78'0,"-3"92"0,-1-150 0,-1 0 0,0-1 0,-2 0 0,0 0 0,-14 26 0,-13 44 0,22-48 0,-38 117 0,30-104 0,3 2 0,-11 71 0,-9 33 0,-30 28 0,6-22 0,21-24 0,28-110 0,-1 0 0,-1-1 0,-2-1 0,-1 0 0,-35 49 0,1-13 0,30-43 0,2 2 0,0 0 0,-23 46 0,16 3 0,19-55 0,0 0 0,-1-1 0,-14 26 0,-66 120 0,-6 13 0,79-152 0,0 0 0,-1 0 0,-27 31 0,19-27 0,-26 45 0,-6 29 0,-62 106 0,87-151 0,3 2 0,-37 115 0,31-77 0,23-74 0,-1-1 0,-23 36 0,23-43 0,1 1 0,1 0 0,0 1 0,2 0 0,0 0 0,-5 20 0,7-12 0,-1-1 0,-1 1 0,-20 47 0,-120 192 0,71-137 0,48-83 0,-63 76 0,47-66 0,28-32 0,1 1 0,1 1 0,2 0 0,-11 28 0,-27 54 0,-67 88 0,106-176 0,-7 11 0,-20 47 0,-3 23 0,-83 148 0,98-203 0,3 2 0,-31 90 0,41-108 0,-1 0 0,-1-1 0,-34 46 0,5-7 0,21-28 0,1 1 0,3 0 0,-27 79 0,18-33 0,-3-1 0,-52 98 0,75-165 0,1 2 0,0-1 0,1 1 0,-5 37 0,8-37 0,-1-1 0,-1 1 0,0-1 0,-17 36 0,-17 10-1365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41:37.845"/>
    </inkml:context>
    <inkml:brush xml:id="br0">
      <inkml:brushProperty name="width" value="0.14111" units="cm"/>
      <inkml:brushProperty name="height" value="0.14111" units="cm"/>
      <inkml:brushProperty name="color" value="#A02B93"/>
    </inkml:brush>
  </inkml:definitions>
  <inkml:trace contextRef="#ctx0" brushRef="#br0">0 61 24338,'13847'-61'0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7T10:33:02.292"/>
    </inkml:context>
    <inkml:brush xml:id="br0">
      <inkml:brushProperty name="width" value="0.2" units="cm"/>
      <inkml:brushProperty name="height" value="0.4" units="cm"/>
      <inkml:brushProperty name="color" value="#C0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5602,'135'0,"154"1,-144 8,-19-1,7 4,15-1,-15 0,-1-1,98-9,-140-2,-50 0,66-8,-65 4,53-1,297 5,-181 2,-175-2,-1-2,1-1,-1-1,-1 0,39-10,1-4,-41 10,63-11,-41 11,65-19,-78 18,1-2,-2-1,56-23,-37 13,-45 19,0 0,0 0,24-4,-22 6,32-10,155-54,-183 60,0 0,0-2,-1 1,0-1,28-17,-5-1,-1 2,-1-2,60-50,58-56,-99 85,14-17,-45 37,3 1,43-29,-57 43,-1-1,0-1,-2 0,0 0,17-24,6-7,20-20,56-58,-66 76,74-100,-37 43,-52 67,26-44,-14 18,-23 32,19-39,17-24,-25 52,37-56,-62 86,-1 0,-1 0,-1 0,0-1,-2 0,1-19,-3 26,-1-1,2 0,-1 1,2-1,-1 0,1 1,1-1,0 0,0 1,1 0,0 0,7-9,-4 9,20-22,28-38,11-21,28-43,-88 119,6-21,-9 24,0 0,0-1,1 1,9-13,-6 12,0-1,-1 0,-1 0,0 0,3-13,0 3,1 1,2 1,0-1,25-27,-16 21,18-33,-22 26,-1-1,11-46,-20 61,2 0,1 1,1 0,1 1,27-30,-1-1,91-103,-28 34,-75 88,-16 18,0 0,-1 0,-1-1,0 0,8-21,-12 21,-1 2,1 1,0 0,0 0,1-1,1 1,0 1,13-15,-13 16,222-240,-206 221,0 1,3 0,1 1,1 1,2 0,37-22,199-131,-124 79,-100 70,65-33,133-72,-80 42,-123 71,68-24,-65 28,58-29,-60 24,1 2,1 0,1 2,82-23,52-14,-3 1,-32 8,-26 7,-67 26,76-14,-61 14,23-4,-31 6,68-18,60-14,-110 26,75-22,115-38,-194 59,137-21,-81 15,8-1,-114 19,-1 1,1-2,-1 0,27-10,-22 8,36-10,9 4,96-8,-53 8,-26 4,24-4,-48 2,0 2,2 2,113-4,-85 11,97-1,-74-10,-68 5,52-1,390 5,-232 2,-122-1,-105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7T10:33:02.292"/>
    </inkml:context>
    <inkml:brush xml:id="br0">
      <inkml:brushProperty name="width" value="0.2" units="cm"/>
      <inkml:brushProperty name="height" value="0.4" units="cm"/>
      <inkml:brushProperty name="color" value="#00B05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7T10:33:02.292"/>
    </inkml:context>
    <inkml:brush xml:id="br0">
      <inkml:brushProperty name="width" value="0.2" units="cm"/>
      <inkml:brushProperty name="height" value="0.4" units="cm"/>
      <inkml:brushProperty name="color" value="#E97132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8398,'76'-1,"86"3,-81 11,-10 0,4 4,8 0,-8-1,-1 0,55-15,-79-2,-27-1,36-12,-36 7,30-2,167 8,-102 2,-99-3,0-2,1-2,-1-1,0-1,21-15,1-5,-23 15,35-17,-22 16,36-27,-44 25,0-1,0-3,31-34,-21 19,-25 29,-1 0,1 0,14-5,-13 7,18-14,87-80,-103 89,0-1,0-1,0 0,0-1,15-26,-2 0,-1 1,-1-1,34-76,33-84,-56 128,8-27,-25 57,1 1,25-43,-33 63,0 0,0-2,-1 0,0 0,9-36,4-11,11-29,32-87,-38 113,42-149,-21 64,-29 101,15-67,-9 28,-12 48,11-59,9-37,-14 79,20-83,-34 128,0 0,-2-1,1 1,-1-1,-1 0,1-29,-2 38,-1 0,2 0,-1 0,1 0,-1-1,1 2,1-1,0 0,0 0,0 1,0 0,4-12,-2 11,11-32,16-57,6-31,16-65,-50 179,4-32,-5 35,-1 1,1-1,0 1,6-19,-4 17,0-1,-1 0,0 0,0 0,1-20,1 6,0 1,1 0,0 0,14-41,-9 31,11-48,-13 37,-1 0,7-70,-12 93,2-1,0 1,0 1,1 0,16-44,-1-1,50-155,-14 52,-43 130,-9 28,0 0,-1 0,0-1,0 0,4-32,-6 31,-1 4,1 1,0-1,-1 1,2-1,-1 1,1 1,7-22,-7 25,125-361,-117 332,1 0,2 2,0 0,0 2,2 0,21-33,111-196,-70 118,-55 105,36-49,74-109,-44 63,-69 108,38-37,-37 42,33-44,-34 37,1 2,0 1,1 2,46-34,29-21,-1 2,-19 12,-14 10,-38 38,43-19,-34 20,12-6,-16 8,37-25,34-22,-62 39,43-33,64-57,-109 88,77-31,-46 23,5-2,-64 29,0 0,0-1,-1-1,16-15,-13 11,20-14,6 7,53-13,-29 12,-15 6,14-6,-28 3,1 3,0 2,64-5,-47 17,54-2,-42-15,-38 8,30-3,218 9,-130 3,-68-2,-60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45:15.661"/>
    </inkml:context>
    <inkml:brush xml:id="br0">
      <inkml:brushProperty name="width" value="0.28222" units="cm"/>
      <inkml:brushProperty name="height" value="0.28222" units="cm"/>
      <inkml:brushProperty name="color" value="#E97132"/>
    </inkml:brush>
  </inkml:definitions>
  <inkml:trace contextRef="#ctx0" brushRef="#br0">1 1 24438,'3175'28'0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0:45:42.974"/>
    </inkml:context>
    <inkml:brush xml:id="br0">
      <inkml:brushProperty name="width" value="0.28222" units="cm"/>
      <inkml:brushProperty name="height" value="0.28222" units="cm"/>
      <inkml:brushProperty name="color" value="#E97132"/>
    </inkml:brush>
  </inkml:definitions>
  <inkml:trace contextRef="#ctx0" brushRef="#br0">1 1 24438,'3175'28'0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7T10:33:02.292"/>
    </inkml:context>
    <inkml:brush xml:id="br0">
      <inkml:brushProperty name="width" value="0.2" units="cm"/>
      <inkml:brushProperty name="height" value="0.4" units="cm"/>
      <inkml:brushProperty name="color" value="#A02B93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5734,'135'-1,"154"3,-144 6,-19 1,7 3,15-1,-15 0,-1 0,98-10,-140-2,-50 0,66-9,-65 6,53-3,297 7,-181 0,-175-1,-1-2,1-1,-1 0,-1-2,39-10,1-3,-41 10,63-11,-41 10,65-18,-78 17,1 0,-2-3,56-23,-37 13,-45 20,0 0,0 0,24-3,-22 4,32-9,155-55,-183 60,0 1,0-2,-1 1,0-2,28-17,-5 1,-1-1,-1 0,60-51,58-59,-99 89,14-20,-45 40,3 0,43-29,-57 43,-1 0,0-1,-2 0,0-1,17-23,6-9,20-19,56-60,-66 78,74-102,-37 43,-52 69,26-45,-14 19,-23 33,19-41,17-25,-25 54,37-57,-62 88,-1 0,-1-1,-1 0,0 0,-2 0,1-19,-3 25,-1 0,2 0,-1 0,2 1,-1-2,1 2,1-1,0 0,0 0,1 1,0 0,7-8,-4 7,20-22,28-38,11-22,28-44,-88 122,6-22,-9 24,0 1,0-1,1 1,9-13,-6 11,0 0,-1 0,-1 0,0-1,3-13,0 5,1-1,2 1,0 0,25-28,-16 21,18-33,-22 26,-1 0,11-49,-20 65,2-2,1 1,1 1,1 0,27-30,-1-1,91-105,-28 35,-75 88,-16 20,0 0,-1-1,-1 1,0-1,8-22,-12 21,-1 3,1 1,0-1,0 1,1-1,1 1,0 1,13-16,-13 18,222-247,-206 226,0 1,3 1,1 0,1 2,2-1,37-22,199-134,-124 81,-100 71,65-33,133-74,-80 42,-123 75,68-27,-65 30,58-30,-60 25,1 1,1 1,1 1,82-23,52-14,-3 1,-32 8,-26 8,-67 25,76-13,-61 13,23-3,-31 5,68-17,60-15,-110 27,75-23,115-39,-194 61,137-22,-81 16,8-2,-114 20,-1 1,1-2,-1 0,27-10,-22 7,36-9,9 4,96-9,-53 9,-26 4,24-4,-48 1,0 3,2 1,113-3,-85 12,97-2,-74-11,-68 7,52-3,390 6,-232 2,-122-1,-105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00:42.0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00:46.5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00:50.0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02:21.83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02:41.090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03:27.373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03:49.996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03:56.969"/>
    </inkml:context>
    <inkml:brush xml:id="br0">
      <inkml:brushProperty name="width" value="0.2" units="cm"/>
      <inkml:brushProperty name="height" value="0.4" units="cm"/>
      <inkml:brushProperty name="color" value="#7030A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0,'3965'0'0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04:07.088"/>
    </inkml:context>
    <inkml:brush xml:id="br0">
      <inkml:brushProperty name="width" value="0.2" units="cm"/>
      <inkml:brushProperty name="height" value="0.4" units="cm"/>
      <inkml:brushProperty name="color" value="#7030A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9014 0,'5389'-9014'0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04:15.056"/>
    </inkml:context>
    <inkml:brush xml:id="br0">
      <inkml:brushProperty name="width" value="0.2" units="cm"/>
      <inkml:brushProperty name="height" value="0.4" units="cm"/>
      <inkml:brushProperty name="color" value="#7030A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0,'3625'0'0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17:23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18:21.334"/>
    </inkml:context>
    <inkml:brush xml:id="br0">
      <inkml:brushProperty name="width" value="0.2" units="cm"/>
      <inkml:brushProperty name="height" value="0.4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0,'4124'0'0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18:26.779"/>
    </inkml:context>
    <inkml:brush xml:id="br0">
      <inkml:brushProperty name="width" value="0.2" units="cm"/>
      <inkml:brushProperty name="height" value="0.4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8767 0,'216'-8767'0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18:29.972"/>
    </inkml:context>
    <inkml:brush xml:id="br0">
      <inkml:brushProperty name="width" value="0.2" units="cm"/>
      <inkml:brushProperty name="height" value="0.4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0,'8797'32'0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24575,'1'1'0,"0"-1"0,0 0 0,0 1 0,0-1 0,1 1 0,-1-1 0,0 1 0,0-1 0,0 1 0,0 0 0,-1 0 0,1-1 0,0 1 0,0 0 0,0 0 0,0 0 0,-1 0 0,1 0 0,-1 0 0,1 0 0,-1 0 0,1 0 0,-1 0 0,1 1 0,-1-1 0,0 0 0,0 0 0,1 1 0,5 41 0,-6-37 0,6 360 0,-9-211 0,3 1736 0,16-1634 0,-3-87 0,2 2 0,1-4 0,0 25 0,3 76 0,-21 827 0,6-1044 0,1 0 0,3 0 0,23 85 0,-16-81 0,-3 2 0,8 89 0,-19 243 0,-4-183 0,4 894 0,-4-1049 0,-2 0 0,-21 91 0,8-55 0,9-17 0,4 0 0,5 117 0,2-88 0,-4-75 0,0 0 0,-2-1 0,-1 1 0,-11 34 0,6-24 0,-6 38 0,11-21 0,3 93 0,1-5 0,-12-32 0,-1 17 0,-7 111 0,11-115 11,7 176 0,4-153-1398,-1-111-5439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94 24318,'14435'-94'0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3T08:22:40.854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8398,'135'-1,"154"3,-144 11,-19 0,7 4,15 0,-15-1,-1 0,98-15,-140-2,-50-1,66-12,-65 7,53-2,297 8,-181 2,-175-3,-1-2,1-2,-1-1,-1-1,39-15,1-5,-41 15,63-17,-41 16,65-27,-78 25,1-1,-2-3,56-34,-37 19,-45 29,0 0,0 0,24-5,-22 7,32-14,155-80,-183 89,0-1,0-1,-1 0,0-1,28-26,-5 0,-1 1,-1-1,60-76,58-84,-99 128,14-27,-45 57,3 1,43-43,-57 63,-1 0,0-2,-2 0,0 0,17-36,6-11,20-29,56-87,-66 113,74-149,-37 64,-52 101,26-67,-14 28,-23 48,19-59,17-37,-25 79,37-83,-62 128,-1 0,-1-1,-1 1,0-1,-2 0,1-29,-3 38,-1 0,2 0,-1 0,2 0,-1-1,1 2,1-1,0 0,0 0,1 1,0 0,7-12,-4 11,20-32,28-57,11-31,28-65,-88 179,6-32,-9 35,0 1,0-1,1 1,9-19,-6 17,0-1,-1 0,-1 0,0 0,3-20,0 6,1 1,2 0,0 0,25-41,-16 31,18-48,-22 37,-1 0,11-70,-20 93,2-1,1 1,1 1,1 0,27-44,-1-1,91-155,-28 52,-75 130,-16 28,0 0,-1 0,-1-1,0 0,8-32,-12 31,-1 4,1 1,0-1,0 1,1-1,1 1,0 1,13-22,-13 25,222-361,-206 332,0 0,3 2,1 0,1 2,2 0,37-33,199-196,-124 118,-100 105,65-49,133-109,-80 63,-123 108,68-37,-65 42,58-44,-60 37,1 2,1 1,1 2,82-34,52-21,-3 2,-32 12,-26 10,-67 38,76-19,-61 20,23-6,-31 8,68-25,60-22,-110 39,75-33,115-57,-194 88,137-31,-81 23,8-2,-114 29,-1 0,1-1,-1-1,27-15,-22 11,36-14,9 7,96-13,-53 12,-26 6,24-6,-48 3,0 3,2 2,113-5,-85 17,97-2,-74-15,-68 8,52-3,390 9,-232 3,-122-2,-105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11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09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80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07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81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09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94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96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70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54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8C60B-81F4-43C2-A194-7AEC2102D810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E5721-3A72-47DC-B233-F984A68B5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58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22.png"/><Relationship Id="rId7" Type="http://schemas.openxmlformats.org/officeDocument/2006/relationships/image" Target="../media/image6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.xml"/><Relationship Id="rId5" Type="http://schemas.openxmlformats.org/officeDocument/2006/relationships/image" Target="../media/image30.png"/><Relationship Id="rId4" Type="http://schemas.openxmlformats.org/officeDocument/2006/relationships/customXml" Target="../ink/ink9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4.xml"/><Relationship Id="rId5" Type="http://schemas.openxmlformats.org/officeDocument/2006/relationships/image" Target="../media/image6.png"/><Relationship Id="rId4" Type="http://schemas.openxmlformats.org/officeDocument/2006/relationships/customXml" Target="../ink/ink13.xml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21.xml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.xml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4.xml"/><Relationship Id="rId5" Type="http://schemas.openxmlformats.org/officeDocument/2006/relationships/image" Target="../media/image6.png"/><Relationship Id="rId4" Type="http://schemas.openxmlformats.org/officeDocument/2006/relationships/customXml" Target="../ink/ink23.xml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image" Target="../media/image60.png"/><Relationship Id="rId18" Type="http://schemas.openxmlformats.org/officeDocument/2006/relationships/customXml" Target="../ink/ink34.xml"/><Relationship Id="rId26" Type="http://schemas.openxmlformats.org/officeDocument/2006/relationships/customXml" Target="../ink/ink38.xml"/><Relationship Id="rId3" Type="http://schemas.openxmlformats.org/officeDocument/2006/relationships/image" Target="../media/image1.png"/><Relationship Id="rId21" Type="http://schemas.openxmlformats.org/officeDocument/2006/relationships/image" Target="../media/image100.png"/><Relationship Id="rId7" Type="http://schemas.openxmlformats.org/officeDocument/2006/relationships/image" Target="../media/image30.png"/><Relationship Id="rId12" Type="http://schemas.openxmlformats.org/officeDocument/2006/relationships/customXml" Target="../ink/ink31.xml"/><Relationship Id="rId17" Type="http://schemas.openxmlformats.org/officeDocument/2006/relationships/image" Target="../media/image80.png"/><Relationship Id="rId25" Type="http://schemas.openxmlformats.org/officeDocument/2006/relationships/image" Target="../media/image120.png"/><Relationship Id="rId2" Type="http://schemas.openxmlformats.org/officeDocument/2006/relationships/customXml" Target="../ink/ink26.xml"/><Relationship Id="rId16" Type="http://schemas.openxmlformats.org/officeDocument/2006/relationships/customXml" Target="../ink/ink33.xml"/><Relationship Id="rId20" Type="http://schemas.openxmlformats.org/officeDocument/2006/relationships/customXml" Target="../ink/ink35.xml"/><Relationship Id="rId29" Type="http://schemas.openxmlformats.org/officeDocument/2006/relationships/image" Target="../media/image14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8.xml"/><Relationship Id="rId11" Type="http://schemas.openxmlformats.org/officeDocument/2006/relationships/image" Target="../media/image50.png"/><Relationship Id="rId24" Type="http://schemas.openxmlformats.org/officeDocument/2006/relationships/customXml" Target="../ink/ink37.xml"/><Relationship Id="rId5" Type="http://schemas.openxmlformats.org/officeDocument/2006/relationships/image" Target="../media/image22.png"/><Relationship Id="rId15" Type="http://schemas.openxmlformats.org/officeDocument/2006/relationships/image" Target="../media/image70.png"/><Relationship Id="rId23" Type="http://schemas.openxmlformats.org/officeDocument/2006/relationships/image" Target="../media/image110.png"/><Relationship Id="rId28" Type="http://schemas.openxmlformats.org/officeDocument/2006/relationships/customXml" Target="../ink/ink39.xml"/><Relationship Id="rId10" Type="http://schemas.openxmlformats.org/officeDocument/2006/relationships/customXml" Target="../ink/ink30.xml"/><Relationship Id="rId19" Type="http://schemas.openxmlformats.org/officeDocument/2006/relationships/image" Target="../media/image90.png"/><Relationship Id="rId4" Type="http://schemas.openxmlformats.org/officeDocument/2006/relationships/customXml" Target="../ink/ink27.xml"/><Relationship Id="rId9" Type="http://schemas.openxmlformats.org/officeDocument/2006/relationships/image" Target="../media/image40.png"/><Relationship Id="rId14" Type="http://schemas.openxmlformats.org/officeDocument/2006/relationships/customXml" Target="../ink/ink32.xml"/><Relationship Id="rId22" Type="http://schemas.openxmlformats.org/officeDocument/2006/relationships/customXml" Target="../ink/ink36.xml"/><Relationship Id="rId27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2.xml"/><Relationship Id="rId5" Type="http://schemas.openxmlformats.org/officeDocument/2006/relationships/image" Target="../media/image6.png"/><Relationship Id="rId4" Type="http://schemas.openxmlformats.org/officeDocument/2006/relationships/customXml" Target="../ink/ink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7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5.xml"/><Relationship Id="rId5" Type="http://schemas.openxmlformats.org/officeDocument/2006/relationships/image" Target="../media/image160.png"/><Relationship Id="rId4" Type="http://schemas.openxmlformats.org/officeDocument/2006/relationships/customXml" Target="../ink/ink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MSMultiLab/TMSMultiLab/wiki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06EA-7F99-27C3-7CEA-285E4A68C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687" y="535258"/>
            <a:ext cx="11496907" cy="355455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5400" b="1" i="1" dirty="0"/>
              <a:t>Dose-response (input-output) curves:</a:t>
            </a:r>
            <a:br>
              <a:rPr lang="en-GB" sz="4000" b="1" i="1" dirty="0"/>
            </a:br>
            <a:br>
              <a:rPr lang="en-GB" sz="1800" b="1" i="1" dirty="0"/>
            </a:br>
            <a:r>
              <a:rPr lang="en-GB" sz="4800" b="1" i="1" dirty="0"/>
              <a:t>Ground truth for testing TMS methods?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67778-2F47-1463-70B6-63FAEA3F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375" y="4917877"/>
            <a:ext cx="10783229" cy="1655762"/>
          </a:xfrm>
        </p:spPr>
        <p:txBody>
          <a:bodyPr>
            <a:normAutofit fontScale="85000" lnSpcReduction="20000"/>
          </a:bodyPr>
          <a:lstStyle/>
          <a:p>
            <a:r>
              <a:rPr lang="en-GB" sz="3600" b="1" dirty="0"/>
              <a:t>Nick Holmes</a:t>
            </a:r>
          </a:p>
          <a:p>
            <a:endParaRPr lang="en-GB" sz="2800" b="1" dirty="0"/>
          </a:p>
          <a:p>
            <a:r>
              <a:rPr lang="en-GB" sz="2900" i="1" dirty="0"/>
              <a:t>citing work with / by</a:t>
            </a:r>
          </a:p>
          <a:p>
            <a:r>
              <a:rPr lang="en-GB" sz="2900" b="1" dirty="0"/>
              <a:t>Kat Dyke, Luigi </a:t>
            </a:r>
            <a:r>
              <a:rPr lang="en-GB" sz="2900" b="1" dirty="0" err="1"/>
              <a:t>Tamè</a:t>
            </a:r>
            <a:r>
              <a:rPr lang="en-GB" sz="2900" b="1" dirty="0"/>
              <a:t>, Domenica </a:t>
            </a:r>
            <a:r>
              <a:rPr lang="en-GB" sz="2900" b="1" dirty="0" err="1"/>
              <a:t>Veniero</a:t>
            </a:r>
            <a:r>
              <a:rPr lang="en-GB" sz="2900" b="1" dirty="0"/>
              <a:t>, Xiaoxia Yuan, Shanelle Chan</a:t>
            </a:r>
          </a:p>
        </p:txBody>
      </p:sp>
    </p:spTree>
    <p:extLst>
      <p:ext uri="{BB962C8B-B14F-4D97-AF65-F5344CB8AC3E}">
        <p14:creationId xmlns:p14="http://schemas.microsoft.com/office/powerpoint/2010/main" val="19187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C703-42F7-56A9-840C-2276F3D8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EB49-6FAF-3E25-EE84-34B84A2E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How do you..?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B5436-F589-89BC-C677-C14BF5982861}"/>
              </a:ext>
            </a:extLst>
          </p:cNvPr>
          <p:cNvSpPr txBox="1"/>
          <p:nvPr/>
        </p:nvSpPr>
        <p:spPr>
          <a:xfrm>
            <a:off x="1070522" y="2029545"/>
            <a:ext cx="8492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1. Know if your TMS methods are working?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13FFF-9086-26FA-7857-583860F5AD34}"/>
              </a:ext>
            </a:extLst>
          </p:cNvPr>
          <p:cNvSpPr txBox="1"/>
          <p:nvPr/>
        </p:nvSpPr>
        <p:spPr>
          <a:xfrm>
            <a:off x="1077959" y="3486633"/>
            <a:ext cx="9257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 Test whether a manipulation has an effect?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AB001-0FDB-22EB-AA21-3B22F62D95F5}"/>
              </a:ext>
            </a:extLst>
          </p:cNvPr>
          <p:cNvSpPr txBox="1"/>
          <p:nvPr/>
        </p:nvSpPr>
        <p:spPr>
          <a:xfrm>
            <a:off x="1074245" y="4865659"/>
            <a:ext cx="8808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3. Calibrate methods &amp; results across labs?</a:t>
            </a:r>
          </a:p>
        </p:txBody>
      </p:sp>
    </p:spTree>
    <p:extLst>
      <p:ext uri="{BB962C8B-B14F-4D97-AF65-F5344CB8AC3E}">
        <p14:creationId xmlns:p14="http://schemas.microsoft.com/office/powerpoint/2010/main" val="184148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281E7D4-786D-7E7D-E52D-BE9C0138A2C3}"/>
              </a:ext>
            </a:extLst>
          </p:cNvPr>
          <p:cNvSpPr txBox="1">
            <a:spLocks/>
          </p:cNvSpPr>
          <p:nvPr/>
        </p:nvSpPr>
        <p:spPr>
          <a:xfrm>
            <a:off x="334537" y="267864"/>
            <a:ext cx="11530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i="1" dirty="0"/>
              <a:t>The (peripheral) motor system provides ground 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36F8E-DFC2-A547-6C19-5871843037AA}"/>
              </a:ext>
            </a:extLst>
          </p:cNvPr>
          <p:cNvSpPr txBox="1"/>
          <p:nvPr/>
        </p:nvSpPr>
        <p:spPr>
          <a:xfrm>
            <a:off x="2718" y="1301327"/>
            <a:ext cx="56360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Stimulate the peripheral motor nerve at increasing intensities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B8BF4-0387-352B-0EB6-F9898CF63127}"/>
              </a:ext>
            </a:extLst>
          </p:cNvPr>
          <p:cNvSpPr txBox="1"/>
          <p:nvPr/>
        </p:nvSpPr>
        <p:spPr>
          <a:xfrm>
            <a:off x="6095999" y="1295436"/>
            <a:ext cx="5768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Very lawful increase in motor-unit recruitment, up to MMAX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B573C-2376-E4E8-8A6B-08785EBDD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396" y="2483319"/>
            <a:ext cx="6532502" cy="4100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72DA80-DD6C-8E00-D0DE-CEDF65833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55425" y="1523563"/>
            <a:ext cx="1501540" cy="34210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BCE86E-5C96-7A89-84B4-99334EAB5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09" y="2483318"/>
            <a:ext cx="1470753" cy="39798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F338E3C-F94C-4A7E-AF2B-F50CD6124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857" y="4389121"/>
            <a:ext cx="3421982" cy="208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3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B293-549B-EB0C-11C5-002EEC6D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DA10-6008-098D-FB67-6C1CA5F5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accent3">
                    <a:lumMod val="50000"/>
                  </a:schemeClr>
                </a:solidFill>
              </a:rPr>
              <a:t>Model</a:t>
            </a:r>
            <a:endParaRPr lang="en-GB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7CD22-01A8-670B-B5BD-FBCA056FF81B}"/>
              </a:ext>
            </a:extLst>
          </p:cNvPr>
          <p:cNvSpPr txBox="1"/>
          <p:nvPr/>
        </p:nvSpPr>
        <p:spPr>
          <a:xfrm>
            <a:off x="6827397" y="2553625"/>
            <a:ext cx="35409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i="1" dirty="0"/>
              <a:t>Parameters: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C00000"/>
                </a:solidFill>
              </a:rPr>
              <a:t>Baseline (y)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00B050"/>
                </a:solidFill>
              </a:rPr>
              <a:t>Threshold (x)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accent2"/>
                </a:solidFill>
              </a:rPr>
              <a:t>Growth rate (y/x)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Plateau (y)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1EFB7-01DA-0AF4-082E-4F4054A3B20E}"/>
              </a:ext>
            </a:extLst>
          </p:cNvPr>
          <p:cNvSpPr txBox="1"/>
          <p:nvPr/>
        </p:nvSpPr>
        <p:spPr>
          <a:xfrm>
            <a:off x="267630" y="1527727"/>
            <a:ext cx="9237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Neuromuscular output is a </a:t>
            </a:r>
            <a:r>
              <a:rPr lang="en-GB" sz="2400" b="1" dirty="0">
                <a:solidFill>
                  <a:srgbClr val="0070C0"/>
                </a:solidFill>
              </a:rPr>
              <a:t>sigmoid</a:t>
            </a:r>
            <a:r>
              <a:rPr lang="en-GB" sz="2400" b="1" dirty="0"/>
              <a:t> function of stimulus intensity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CE151D-016C-0174-4288-FFE19DA9E837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FC7AD9-9271-BFF0-FAAB-DD5910B41C20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FC7AD9-9271-BFF0-FAAB-DD5910B41C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463" y="2316601"/>
                  <a:ext cx="151884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EE4269-B949-DD82-5766-21B1DB61CFA8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EE4269-B949-DD82-5766-21B1DB61CF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5220"/>
                  <a:ext cx="5268600" cy="1047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8E4A0E-4AF3-C45B-188B-ABDFC07B0D14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4BA4CC-CDB2-E718-E5A7-BD8451F39121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84BC88-D990-DA9E-8491-D3CEEDD77AB9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DD05413-9062-BC7E-6AC9-BFA665847296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DD05413-9062-BC7E-6AC9-BFA6658472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23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ED042A-ED14-BACD-2912-1776173E3107}"/>
                  </a:ext>
                </a:extLst>
              </p14:cNvPr>
              <p14:cNvContentPartPr/>
              <p14:nvPr/>
            </p14:nvContentPartPr>
            <p14:xfrm>
              <a:off x="1148172" y="5731621"/>
              <a:ext cx="4985280" cy="2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ED042A-ED14-BACD-2912-1776173E31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2612" y="5706061"/>
                <a:ext cx="50356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487DB9-A539-5CAF-0F24-48C2992E15D2}"/>
                  </a:ext>
                </a:extLst>
              </p14:cNvPr>
              <p14:cNvContentPartPr/>
              <p14:nvPr/>
            </p14:nvContentPartPr>
            <p14:xfrm>
              <a:off x="2263452" y="2722381"/>
              <a:ext cx="179640" cy="3343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487DB9-A539-5CAF-0F24-48C2992E15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38252" y="2697181"/>
                <a:ext cx="230040" cy="33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2B6E190-874B-9979-02AE-3E073B30280D}"/>
                  </a:ext>
                </a:extLst>
              </p14:cNvPr>
              <p14:cNvContentPartPr/>
              <p14:nvPr/>
            </p14:nvContentPartPr>
            <p14:xfrm>
              <a:off x="2810111" y="3026815"/>
              <a:ext cx="1091520" cy="2442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2B6E190-874B-9979-02AE-3E073B3028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84911" y="3001615"/>
                <a:ext cx="1141920" cy="24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1F0B0DB-E862-67B1-D125-9D7936B68D80}"/>
                  </a:ext>
                </a:extLst>
              </p14:cNvPr>
              <p14:cNvContentPartPr/>
              <p14:nvPr/>
            </p14:nvContentPartPr>
            <p14:xfrm>
              <a:off x="1122156" y="2694775"/>
              <a:ext cx="4985280" cy="22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1F0B0DB-E862-67B1-D125-9D7936B68D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6596" y="2669215"/>
                <a:ext cx="5035680" cy="7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29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5B931-7623-11E5-8C76-CA4F8486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7262-B5B0-8980-E005-B8EBC7A8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rgbClr val="C00000"/>
                </a:solidFill>
              </a:rPr>
              <a:t>Theory predicts baseline (y) increase</a:t>
            </a:r>
            <a:endParaRPr lang="en-GB" i="1" dirty="0">
              <a:solidFill>
                <a:srgbClr val="C0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29FD7E-FBAD-F0ED-4D7C-6C24EC90664A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E6D3D4-A569-DAE7-A34A-982D2DB8D78D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E6D3D4-A569-DAE7-A34A-982D2DB8D78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986" y="2316601"/>
                  <a:ext cx="151560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A9983C-C7BB-F0CC-4EA1-8D2D8A295AFE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A9983C-C7BB-F0CC-4EA1-8D2D8A295A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4841"/>
                  <a:ext cx="52686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81F860-D39B-AAA4-20BD-DC94E9F1377F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AF132C-C971-74F7-441F-C7810F29F1EA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ED2270-6A3B-C5CE-ECD2-A007D808D215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CD7377-72D3-E9C2-119A-F32A5034BCC7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CD7377-72D3-E9C2-119A-F32A5034BC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59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BCD219D-8779-6BDA-8B7A-AEF879DCC95E}"/>
              </a:ext>
            </a:extLst>
          </p:cNvPr>
          <p:cNvGrpSpPr/>
          <p:nvPr/>
        </p:nvGrpSpPr>
        <p:grpSpPr>
          <a:xfrm>
            <a:off x="1267836" y="2732256"/>
            <a:ext cx="4716720" cy="2897794"/>
            <a:chOff x="1267836" y="2732256"/>
            <a:chExt cx="4716720" cy="289779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A5F4FED-4ED5-BFE7-29AC-FD153EF729D9}"/>
                    </a:ext>
                  </a:extLst>
                </p14:cNvPr>
                <p14:cNvContentPartPr/>
                <p14:nvPr/>
              </p14:nvContentPartPr>
              <p14:xfrm>
                <a:off x="1267836" y="2732256"/>
                <a:ext cx="4716720" cy="203961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A5F4FED-4ED5-BFE7-29AC-FD153EF729D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1836" y="2660261"/>
                  <a:ext cx="4788360" cy="218323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C2595ED2-7642-7573-6E2F-3318891B473C}"/>
                </a:ext>
              </a:extLst>
            </p:cNvPr>
            <p:cNvSpPr/>
            <p:nvPr/>
          </p:nvSpPr>
          <p:spPr>
            <a:xfrm rot="16200000">
              <a:off x="1497051" y="4988700"/>
              <a:ext cx="711200" cy="571500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651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89939-D5F8-963C-C671-A01590B8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C03E-1F13-6669-E4FE-32E403DE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rgbClr val="00B050"/>
                </a:solidFill>
              </a:rPr>
              <a:t>Theory predicts threshold (x) increase</a:t>
            </a:r>
            <a:endParaRPr lang="en-GB" i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D89977-9C77-EC00-B64E-A9A17AA5389F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0AB10D-20AB-EA63-ED50-48C873516C9B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0AB10D-20AB-EA63-ED50-48C873516C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463" y="2316601"/>
                  <a:ext cx="151884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3E0203-10C5-9BFC-FB73-CC42AE33158C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3E0203-10C5-9BFC-FB73-CC42AE3315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5220"/>
                  <a:ext cx="5268600" cy="1047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D9EC0B-908C-15F0-89C3-AD6BBCF6306C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97277-3819-36D3-A8D6-7A7EF8B149A4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1A5DA9-7FC8-4F8A-936E-845422262C07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2787743-62FE-2642-519E-4B1303B79B11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2787743-62FE-2642-519E-4B1303B79B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23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CED28AA-DDCA-70A4-B940-3A4EA723158C}"/>
              </a:ext>
            </a:extLst>
          </p:cNvPr>
          <p:cNvGrpSpPr/>
          <p:nvPr/>
        </p:nvGrpSpPr>
        <p:grpSpPr>
          <a:xfrm>
            <a:off x="2325043" y="2732255"/>
            <a:ext cx="4716720" cy="3057480"/>
            <a:chOff x="2325043" y="2732255"/>
            <a:chExt cx="4716720" cy="30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15AFD8E-66F8-6FCC-6D1B-7A70C9EE40A6}"/>
                    </a:ext>
                  </a:extLst>
                </p14:cNvPr>
                <p14:cNvContentPartPr/>
                <p14:nvPr/>
              </p14:nvContentPartPr>
              <p14:xfrm>
                <a:off x="2325043" y="2732255"/>
                <a:ext cx="4716720" cy="3057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15AFD8E-66F8-6FCC-6D1B-7A70C9EE40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89043" y="2660255"/>
                  <a:ext cx="4788360" cy="32011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EE2417AB-A21A-8A24-0E7A-0ADF43F125D4}"/>
                </a:ext>
              </a:extLst>
            </p:cNvPr>
            <p:cNvSpPr/>
            <p:nvPr/>
          </p:nvSpPr>
          <p:spPr>
            <a:xfrm>
              <a:off x="3548880" y="3987800"/>
              <a:ext cx="711200" cy="571500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12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3BD0-511B-89FD-B724-DCB2E1CF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62A0-C78A-91EF-EC70-1B0E1937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accent2"/>
                </a:solidFill>
              </a:rPr>
              <a:t>Theory predicts growth (y/x) increase</a:t>
            </a:r>
            <a:endParaRPr lang="en-GB" i="1" dirty="0">
              <a:solidFill>
                <a:schemeClr val="accent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DA69F2-45FA-5D49-8453-551E75D37EA2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6DC0CF-7E7D-3BBD-52AC-2226CC819C86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6DC0CF-7E7D-3BBD-52AC-2226CC819C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463" y="2316601"/>
                  <a:ext cx="151884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67CD8A-815D-EC72-19B5-CD912C8AF989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67CD8A-815D-EC72-19B5-CD912C8AF9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5220"/>
                  <a:ext cx="5268600" cy="1047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BEBB3C-8BB1-C04D-4B9B-F018AF0B8659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F3504A-9136-7DA5-459D-0A2F521AF475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7C5C79-9C7C-CB07-D51F-F948B73A330E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34DF50-6E81-6B21-61D5-6C71C27EB46C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34DF50-6E81-6B21-61D5-6C71C27EB4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23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F143047-AC26-CEE5-7BED-BAD55A08B60D}"/>
              </a:ext>
            </a:extLst>
          </p:cNvPr>
          <p:cNvGrpSpPr/>
          <p:nvPr/>
        </p:nvGrpSpPr>
        <p:grpSpPr>
          <a:xfrm>
            <a:off x="1329393" y="2732255"/>
            <a:ext cx="4685127" cy="3057480"/>
            <a:chOff x="1329393" y="2732255"/>
            <a:chExt cx="4685127" cy="305748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49444D-743B-247D-079F-1A6B5743FD63}"/>
                </a:ext>
              </a:extLst>
            </p:cNvPr>
            <p:cNvGrpSpPr/>
            <p:nvPr/>
          </p:nvGrpSpPr>
          <p:grpSpPr>
            <a:xfrm>
              <a:off x="1329393" y="2732255"/>
              <a:ext cx="4685127" cy="3057480"/>
              <a:chOff x="1329393" y="2732255"/>
              <a:chExt cx="4685127" cy="3057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" name="Ink 2">
                    <a:extLst>
                      <a:ext uri="{FF2B5EF4-FFF2-40B4-BE49-F238E27FC236}">
                        <a16:creationId xmlns:a16="http://schemas.microsoft.com/office/drawing/2014/main" id="{5E1473DA-1541-6CD4-AE2B-739176E6CCC0}"/>
                      </a:ext>
                    </a:extLst>
                  </p14:cNvPr>
                  <p14:cNvContentPartPr/>
                  <p14:nvPr/>
                </p14:nvContentPartPr>
                <p14:xfrm>
                  <a:off x="2191217" y="2732255"/>
                  <a:ext cx="2648409" cy="3057480"/>
                </p14:xfrm>
              </p:contentPart>
            </mc:Choice>
            <mc:Fallback xmlns="">
              <p:pic>
                <p:nvPicPr>
                  <p:cNvPr id="3" name="Ink 2">
                    <a:extLst>
                      <a:ext uri="{FF2B5EF4-FFF2-40B4-BE49-F238E27FC236}">
                        <a16:creationId xmlns:a16="http://schemas.microsoft.com/office/drawing/2014/main" id="{5E1473DA-1541-6CD4-AE2B-739176E6CCC0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155219" y="2660255"/>
                    <a:ext cx="2720046" cy="3201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948DC82E-AA46-9A86-F2B6-B27278FBAA57}"/>
                      </a:ext>
                    </a:extLst>
                  </p14:cNvPr>
                  <p14:cNvContentPartPr/>
                  <p14:nvPr/>
                </p14:nvContentPartPr>
                <p14:xfrm>
                  <a:off x="4871160" y="2732440"/>
                  <a:ext cx="1143360" cy="1080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948DC82E-AA46-9A86-F2B6-B27278FBAA57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820760" y="2682040"/>
                    <a:ext cx="1244880" cy="11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AB9B6B16-BA72-6521-E6E9-E2B4EE537D35}"/>
                      </a:ext>
                    </a:extLst>
                  </p14:cNvPr>
                  <p14:cNvContentPartPr/>
                  <p14:nvPr/>
                </p14:nvContentPartPr>
                <p14:xfrm>
                  <a:off x="1329393" y="5770425"/>
                  <a:ext cx="1143360" cy="1080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AB9B6B16-BA72-6521-E6E9-E2B4EE537D35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8993" y="5720025"/>
                    <a:ext cx="1244880" cy="1119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C05F3A4-290F-244F-021F-E085ED25636B}"/>
                </a:ext>
              </a:extLst>
            </p:cNvPr>
            <p:cNvGrpSpPr/>
            <p:nvPr/>
          </p:nvGrpSpPr>
          <p:grpSpPr>
            <a:xfrm>
              <a:off x="2609084" y="3987800"/>
              <a:ext cx="1549400" cy="571500"/>
              <a:chOff x="2609084" y="3987800"/>
              <a:chExt cx="1549400" cy="571500"/>
            </a:xfrm>
          </p:grpSpPr>
          <p:sp>
            <p:nvSpPr>
              <p:cNvPr id="17" name="Arrow: Right 16">
                <a:extLst>
                  <a:ext uri="{FF2B5EF4-FFF2-40B4-BE49-F238E27FC236}">
                    <a16:creationId xmlns:a16="http://schemas.microsoft.com/office/drawing/2014/main" id="{DB666EFB-D04C-047A-D73A-CE88D67E7A55}"/>
                  </a:ext>
                </a:extLst>
              </p:cNvPr>
              <p:cNvSpPr/>
              <p:nvPr/>
            </p:nvSpPr>
            <p:spPr>
              <a:xfrm>
                <a:off x="2609084" y="3987800"/>
                <a:ext cx="711200" cy="571500"/>
              </a:xfrm>
              <a:prstGeom prst="rightArrow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72890ABC-B8D6-BB10-11F7-BE143533AEBF}"/>
                  </a:ext>
                </a:extLst>
              </p:cNvPr>
              <p:cNvSpPr/>
              <p:nvPr/>
            </p:nvSpPr>
            <p:spPr>
              <a:xfrm rot="10800000">
                <a:off x="3447284" y="3987800"/>
                <a:ext cx="711200" cy="571500"/>
              </a:xfrm>
              <a:prstGeom prst="rightArrow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361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2A8B-B3BE-FCFB-73FA-FD442D0F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9EE2-B874-125A-AC1B-C210E868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accent5"/>
                </a:solidFill>
              </a:rPr>
              <a:t>Theory predicts plateau (y) decrease</a:t>
            </a:r>
            <a:endParaRPr lang="en-GB" i="1" dirty="0">
              <a:solidFill>
                <a:schemeClr val="accent5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2FCB57-3DA6-4443-3456-959CA332509B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7654FD-05A5-9EC3-4E78-821B0E563A90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7654FD-05A5-9EC3-4E78-821B0E563A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463" y="2316601"/>
                  <a:ext cx="151884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577FD5-04CE-E499-FCAD-D635042811DA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577FD5-04CE-E499-FCAD-D635042811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5220"/>
                  <a:ext cx="5268600" cy="1047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539DFD-5BC4-7729-3443-FDB3E10781A8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18498A-0881-5D1C-9B67-F44C3CB591DB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1347BB-EF1C-4655-F8AA-7AEA5741622D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BDF8EE5-3959-5F9C-F1F3-3610DCCDDDBD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BDF8EE5-3959-5F9C-F1F3-3610DCCDDD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23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52E9037-D631-C30F-8D1E-8F2E243D1366}"/>
              </a:ext>
            </a:extLst>
          </p:cNvPr>
          <p:cNvGrpSpPr/>
          <p:nvPr/>
        </p:nvGrpSpPr>
        <p:grpSpPr>
          <a:xfrm>
            <a:off x="1276821" y="2899020"/>
            <a:ext cx="4756715" cy="2890715"/>
            <a:chOff x="1276821" y="2899020"/>
            <a:chExt cx="4756715" cy="289071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5951C87-ECE0-FF95-6313-B68FB13EFFD2}"/>
                    </a:ext>
                  </a:extLst>
                </p14:cNvPr>
                <p14:cNvContentPartPr/>
                <p14:nvPr/>
              </p14:nvContentPartPr>
              <p14:xfrm>
                <a:off x="1276821" y="3702205"/>
                <a:ext cx="4716720" cy="208753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5951C87-ECE0-FF95-6313-B68FB13EFF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40821" y="3630209"/>
                  <a:ext cx="4788360" cy="2231162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97442803-4A78-B649-017C-7A35694BEFA6}"/>
                </a:ext>
              </a:extLst>
            </p:cNvPr>
            <p:cNvSpPr/>
            <p:nvPr/>
          </p:nvSpPr>
          <p:spPr>
            <a:xfrm rot="5400000">
              <a:off x="5392186" y="2968870"/>
              <a:ext cx="711200" cy="571500"/>
            </a:xfrm>
            <a:prstGeom prst="rightArrow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4304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6DA0-5947-D991-538D-5CFC8DB4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44AC-DC16-D614-EF02-7BF811EF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rgbClr val="002060"/>
                </a:solidFill>
              </a:rPr>
              <a:t>Testing theories with (motor) TMS</a:t>
            </a:r>
            <a:endParaRPr lang="en-GB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657F2-E054-5FC1-84B0-074D766CD950}"/>
              </a:ext>
            </a:extLst>
          </p:cNvPr>
          <p:cNvSpPr txBox="1"/>
          <p:nvPr/>
        </p:nvSpPr>
        <p:spPr>
          <a:xfrm>
            <a:off x="267630" y="1527727"/>
            <a:ext cx="11144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u="sng" dirty="0"/>
              <a:t>Corticospinal</a:t>
            </a:r>
            <a:r>
              <a:rPr lang="en-GB" sz="2400" b="1" dirty="0"/>
              <a:t> output is a </a:t>
            </a:r>
            <a:r>
              <a:rPr lang="en-GB" sz="2400" b="1" dirty="0">
                <a:solidFill>
                  <a:srgbClr val="FF0000"/>
                </a:solidFill>
              </a:rPr>
              <a:t>step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rgbClr val="7030A0"/>
                </a:solidFill>
              </a:rPr>
              <a:t>linear</a:t>
            </a:r>
            <a:r>
              <a:rPr lang="en-GB" sz="2400" b="1" dirty="0"/>
              <a:t> OR </a:t>
            </a:r>
            <a:r>
              <a:rPr lang="en-GB" sz="2400" b="1" dirty="0">
                <a:solidFill>
                  <a:schemeClr val="accent1"/>
                </a:solidFill>
              </a:rPr>
              <a:t>non-linear</a:t>
            </a:r>
            <a:r>
              <a:rPr lang="en-GB" sz="2400" b="1" dirty="0"/>
              <a:t> function of excitatory input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7FA844-E6AD-97D0-79C5-82DB748CFD31}"/>
                  </a:ext>
                </a:extLst>
              </p14:cNvPr>
              <p14:cNvContentPartPr/>
              <p14:nvPr/>
            </p14:nvContentPartPr>
            <p14:xfrm>
              <a:off x="-524494" y="149372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7FA844-E6AD-97D0-79C5-82DB748CFD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60494" y="1458088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EA6F049-4F1E-8626-1917-8E4F17FC35AD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9AF5C9-CBD8-CA3B-D898-8AECEC082AEB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9AF5C9-CBD8-CA3B-D898-8AECEC082A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1986" y="2316601"/>
                  <a:ext cx="151560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E288CF-EE75-40FC-3D46-DE97510A4AC1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E288CF-EE75-40FC-3D46-DE97510A4A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6626" y="5694841"/>
                  <a:ext cx="52686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725620-7341-80E8-B77B-638FFB7B2394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7E8208-6FE5-C272-5C6E-50F0AB19B884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5BB8C9-70EB-803F-896D-0EF8B5BA9B04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D17432-1016-3312-5B05-EC4A31F64010}"/>
                  </a:ext>
                </a:extLst>
              </p14:cNvPr>
              <p14:cNvContentPartPr/>
              <p14:nvPr/>
            </p14:nvContentPartPr>
            <p14:xfrm>
              <a:off x="-435574" y="566432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D17432-1016-3312-5B05-EC4A31F640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489214" y="555668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A319B40-33EC-C696-9D0C-58BB10BC35A6}"/>
                  </a:ext>
                </a:extLst>
              </p14:cNvPr>
              <p14:cNvContentPartPr/>
              <p14:nvPr/>
            </p14:nvContentPartPr>
            <p14:xfrm>
              <a:off x="-469054" y="5664328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A319B40-33EC-C696-9D0C-58BB10BC35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504694" y="5592688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9BA8AD8-ABCE-D542-5D89-99409FB02115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9BA8AD8-ABCE-D542-5D89-99409FB021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5759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FDC05AC-6918-555A-4DEA-034EDF48CCDE}"/>
                  </a:ext>
                </a:extLst>
              </p14:cNvPr>
              <p14:cNvContentPartPr/>
              <p14:nvPr/>
            </p14:nvContentPartPr>
            <p14:xfrm>
              <a:off x="-714214" y="6021088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FDC05AC-6918-555A-4DEA-034EDF48CC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750214" y="5949088"/>
                <a:ext cx="7200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BACCA57-2210-5CAA-AC7B-87A3B3A8F0D2}"/>
              </a:ext>
            </a:extLst>
          </p:cNvPr>
          <p:cNvGrpSpPr/>
          <p:nvPr/>
        </p:nvGrpSpPr>
        <p:grpSpPr>
          <a:xfrm>
            <a:off x="1293227" y="2653963"/>
            <a:ext cx="4706298" cy="3289689"/>
            <a:chOff x="1404737" y="2174470"/>
            <a:chExt cx="4706298" cy="328968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5FC64C-3E51-9629-FBA0-701001B4E714}"/>
                    </a:ext>
                  </a:extLst>
                </p14:cNvPr>
                <p14:cNvContentPartPr/>
                <p14:nvPr/>
              </p14:nvContentPartPr>
              <p14:xfrm>
                <a:off x="1404737" y="5430319"/>
                <a:ext cx="1427760" cy="33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5FC64C-3E51-9629-FBA0-701001B4E7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8737" y="-1337681"/>
                  <a:ext cx="1499400" cy="135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5D60ED-98CC-7F57-BF29-CE78559847F5}"/>
                    </a:ext>
                  </a:extLst>
                </p14:cNvPr>
                <p14:cNvContentPartPr/>
                <p14:nvPr/>
              </p14:nvContentPartPr>
              <p14:xfrm>
                <a:off x="2854466" y="2184928"/>
                <a:ext cx="1940760" cy="3245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5D60ED-98CC-7F57-BF29-CE78559847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18826" y="2112928"/>
                  <a:ext cx="2012400" cy="33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5F9DCD-BCB5-A9EE-CA01-89EDB26BC4E4}"/>
                    </a:ext>
                  </a:extLst>
                </p14:cNvPr>
                <p14:cNvContentPartPr/>
                <p14:nvPr/>
              </p14:nvContentPartPr>
              <p14:xfrm>
                <a:off x="4805675" y="2174470"/>
                <a:ext cx="1305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5F9DCD-BCB5-A9EE-CA01-89EDB26BC4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69675" y="2102470"/>
                  <a:ext cx="1377000" cy="1440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9377675-3C41-131B-0BA5-0B44AA89D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463966"/>
              </p:ext>
            </p:extLst>
          </p:nvPr>
        </p:nvGraphicFramePr>
        <p:xfrm>
          <a:off x="6455240" y="2352601"/>
          <a:ext cx="5487716" cy="392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150">
                  <a:extLst>
                    <a:ext uri="{9D8B030D-6E8A-4147-A177-3AD203B41FA5}">
                      <a16:colId xmlns:a16="http://schemas.microsoft.com/office/drawing/2014/main" val="3338980498"/>
                    </a:ext>
                  </a:extLst>
                </a:gridCol>
                <a:gridCol w="1182030">
                  <a:extLst>
                    <a:ext uri="{9D8B030D-6E8A-4147-A177-3AD203B41FA5}">
                      <a16:colId xmlns:a16="http://schemas.microsoft.com/office/drawing/2014/main" val="125164286"/>
                    </a:ext>
                  </a:extLst>
                </a:gridCol>
                <a:gridCol w="1382751">
                  <a:extLst>
                    <a:ext uri="{9D8B030D-6E8A-4147-A177-3AD203B41FA5}">
                      <a16:colId xmlns:a16="http://schemas.microsoft.com/office/drawing/2014/main" val="171118378"/>
                    </a:ext>
                  </a:extLst>
                </a:gridCol>
                <a:gridCol w="1237785">
                  <a:extLst>
                    <a:ext uri="{9D8B030D-6E8A-4147-A177-3AD203B41FA5}">
                      <a16:colId xmlns:a16="http://schemas.microsoft.com/office/drawing/2014/main" val="998034947"/>
                    </a:ext>
                  </a:extLst>
                </a:gridCol>
              </a:tblGrid>
              <a:tr h="78503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FF0000"/>
                          </a:solidFill>
                        </a:rPr>
                        <a:t>Step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7030A0"/>
                          </a:solidFill>
                        </a:rPr>
                        <a:t>Linear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0070C0"/>
                          </a:solidFill>
                        </a:rPr>
                        <a:t>Non-linear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98565"/>
                  </a:ext>
                </a:extLst>
              </a:tr>
              <a:tr h="78503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7030A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0070C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383109"/>
                  </a:ext>
                </a:extLst>
              </a:tr>
              <a:tr h="78503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Velocity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FF0000"/>
                          </a:solidFill>
                        </a:rPr>
                        <a:t>Instant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7030A0"/>
                          </a:solidFill>
                        </a:rPr>
                        <a:t>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0070C0"/>
                          </a:solidFill>
                        </a:rPr>
                        <a:t>Bell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154375"/>
                  </a:ext>
                </a:extLst>
              </a:tr>
              <a:tr h="78503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Acceleration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FF0000"/>
                          </a:solidFill>
                        </a:rPr>
                        <a:t>Instant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7030A0"/>
                          </a:solidFill>
                        </a:rPr>
                        <a:t>Instant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0070C0"/>
                          </a:solidFill>
                        </a:rPr>
                        <a:t>Wave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962687"/>
                  </a:ext>
                </a:extLst>
              </a:tr>
              <a:tr h="78503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Plateau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7030A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rgbClr val="0070C0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3812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DBF5DEA-FD56-8B39-338D-99E544DA441C}"/>
                  </a:ext>
                </a:extLst>
              </p14:cNvPr>
              <p14:cNvContentPartPr/>
              <p14:nvPr/>
            </p14:nvContentPartPr>
            <p14:xfrm>
              <a:off x="7415306" y="2853781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DBF5DEA-FD56-8B39-338D-99E544DA441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06666" y="284514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86CD0A04-64CB-DF92-0AD9-6BBC2B1F1C04}"/>
              </a:ext>
            </a:extLst>
          </p:cNvPr>
          <p:cNvGrpSpPr/>
          <p:nvPr/>
        </p:nvGrpSpPr>
        <p:grpSpPr>
          <a:xfrm>
            <a:off x="1259666" y="2653261"/>
            <a:ext cx="4728600" cy="3156840"/>
            <a:chOff x="1259666" y="2653261"/>
            <a:chExt cx="4728600" cy="31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4389349-3C20-7DD7-22B9-3EB7C38E3008}"/>
                    </a:ext>
                  </a:extLst>
                </p14:cNvPr>
                <p14:cNvContentPartPr/>
                <p14:nvPr/>
              </p14:nvContentPartPr>
              <p14:xfrm>
                <a:off x="1259666" y="5809381"/>
                <a:ext cx="1485000" cy="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4389349-3C20-7DD7-22B9-3EB7C38E30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23666" y="5665381"/>
                  <a:ext cx="1556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C514F9-E791-107C-530C-D917365A5868}"/>
                    </a:ext>
                  </a:extLst>
                </p14:cNvPr>
                <p14:cNvContentPartPr/>
                <p14:nvPr/>
              </p14:nvContentPartPr>
              <p14:xfrm>
                <a:off x="2742884" y="2653612"/>
                <a:ext cx="78120" cy="3156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C514F9-E791-107C-530C-D917365A58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07244" y="2581612"/>
                  <a:ext cx="149760" cy="33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274038-70A8-EBC5-43C1-1ED57F30A241}"/>
                    </a:ext>
                  </a:extLst>
                </p14:cNvPr>
                <p14:cNvContentPartPr/>
                <p14:nvPr/>
              </p14:nvContentPartPr>
              <p14:xfrm>
                <a:off x="2820986" y="2653261"/>
                <a:ext cx="3167280" cy="11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274038-70A8-EBC5-43C1-1ED57F30A2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84986" y="2581261"/>
                  <a:ext cx="3238920" cy="15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824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5974-587B-35B4-49B3-261A6DBFC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DA53-213D-BAA6-EFA4-3937C0C3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accent3">
                    <a:lumMod val="50000"/>
                  </a:schemeClr>
                </a:solidFill>
              </a:rPr>
              <a:t>Model</a:t>
            </a:r>
            <a:endParaRPr lang="en-GB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2F884-E1AE-F45C-52E0-E37DB84F94F5}"/>
              </a:ext>
            </a:extLst>
          </p:cNvPr>
          <p:cNvSpPr txBox="1"/>
          <p:nvPr/>
        </p:nvSpPr>
        <p:spPr>
          <a:xfrm>
            <a:off x="6827397" y="2553625"/>
            <a:ext cx="509543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i="1" dirty="0"/>
              <a:t>Predictions: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Threshold ~50% MSO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Increase ~1mV / 5% MSO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Plateau ~80% MSO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~Sigmoid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~Continuous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62BA8-5EB3-B3F9-F8D2-9893A9B3213F}"/>
              </a:ext>
            </a:extLst>
          </p:cNvPr>
          <p:cNvSpPr txBox="1"/>
          <p:nvPr/>
        </p:nvSpPr>
        <p:spPr>
          <a:xfrm>
            <a:off x="267630" y="1527727"/>
            <a:ext cx="11223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Working hypothesis: Corticospinal output is a </a:t>
            </a:r>
            <a:r>
              <a:rPr lang="en-GB" sz="2400" b="1" dirty="0">
                <a:solidFill>
                  <a:srgbClr val="0070C0"/>
                </a:solidFill>
              </a:rPr>
              <a:t>sigmoid</a:t>
            </a:r>
            <a:r>
              <a:rPr lang="en-GB" sz="2400" b="1" dirty="0"/>
              <a:t> function of TMS intensity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163232-F926-5BA8-A3CF-4E11D55498FF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93AF9B-E9C5-9D9D-5AC1-4BE7CC5C1950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93AF9B-E9C5-9D9D-5AC1-4BE7CC5C195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463" y="2316601"/>
                  <a:ext cx="151884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149BDB-747E-D54B-8564-3ECCA8A857DE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149BDB-747E-D54B-8564-3ECCA8A857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5220"/>
                  <a:ext cx="5268600" cy="1047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19BE7D-B4F5-9056-C89F-E937B3F5C67F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22A792-AE2C-C2E1-6FA7-A30D4CAF2D4B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58C59B-6588-9A42-C87B-16C51BFBAAFE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AAE25AD-F1A3-EDA0-C548-2B18C1A92AC1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AAE25AD-F1A3-EDA0-C548-2B18C1A92A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23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00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5F90-8965-F4B4-1287-3658B7A63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03B6-9D04-26CF-7BEC-7F502DF2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accent3">
                    <a:lumMod val="50000"/>
                  </a:schemeClr>
                </a:solidFill>
              </a:rPr>
              <a:t>Model testing</a:t>
            </a:r>
            <a:endParaRPr lang="en-GB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810E73C-9034-447E-B0C9-23C7A61EFF97}"/>
              </a:ext>
            </a:extLst>
          </p:cNvPr>
          <p:cNvGrpSpPr/>
          <p:nvPr/>
        </p:nvGrpSpPr>
        <p:grpSpPr>
          <a:xfrm>
            <a:off x="936116" y="2709433"/>
            <a:ext cx="5241960" cy="3418560"/>
            <a:chOff x="1047626" y="2352601"/>
            <a:chExt cx="5241960" cy="34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B3FA17-8319-3EA3-4813-AB1F3FB37374}"/>
                    </a:ext>
                  </a:extLst>
                </p14:cNvPr>
                <p14:cNvContentPartPr/>
                <p14:nvPr/>
              </p14:nvContentPartPr>
              <p14:xfrm>
                <a:off x="1047626" y="2352601"/>
                <a:ext cx="79920" cy="3418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B3FA17-8319-3EA3-4813-AB1F3FB373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1463" y="2316601"/>
                  <a:ext cx="151884" cy="34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FC5CC6-2EB0-D3F3-80C4-A784E46509D9}"/>
                    </a:ext>
                  </a:extLst>
                </p14:cNvPr>
                <p14:cNvContentPartPr/>
                <p14:nvPr/>
              </p14:nvContentPartPr>
              <p14:xfrm>
                <a:off x="1092626" y="5730841"/>
                <a:ext cx="5196960" cy="33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FC5CC6-2EB0-D3F3-80C4-A784E46509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6626" y="5695220"/>
                  <a:ext cx="5268600" cy="1047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900D16-1F04-1739-B21A-4E97041EB7BF}"/>
              </a:ext>
            </a:extLst>
          </p:cNvPr>
          <p:cNvGrpSpPr/>
          <p:nvPr/>
        </p:nvGrpSpPr>
        <p:grpSpPr>
          <a:xfrm>
            <a:off x="82434" y="3271016"/>
            <a:ext cx="3827658" cy="3502684"/>
            <a:chOff x="193944" y="2914184"/>
            <a:chExt cx="3827658" cy="350268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C07839-9CE0-8DB4-B770-583D6593A907}"/>
                </a:ext>
              </a:extLst>
            </p:cNvPr>
            <p:cNvSpPr txBox="1"/>
            <p:nvPr/>
          </p:nvSpPr>
          <p:spPr>
            <a:xfrm>
              <a:off x="2921621" y="5832093"/>
              <a:ext cx="10999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dose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4A5D56-ED34-F761-1C7F-6C0F2A1C7122}"/>
                </a:ext>
              </a:extLst>
            </p:cNvPr>
            <p:cNvSpPr txBox="1"/>
            <p:nvPr/>
          </p:nvSpPr>
          <p:spPr>
            <a:xfrm rot="16200000">
              <a:off x="-459601" y="3567729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dirty="0">
                  <a:latin typeface="Comic Sans MS" panose="030F0702030302020204" pitchFamily="66" charset="0"/>
                </a:rPr>
                <a:t>response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98C400E-7E4A-8D7A-B005-9F03F3651BAE}"/>
                  </a:ext>
                </a:extLst>
              </p14:cNvPr>
              <p14:cNvContentPartPr/>
              <p14:nvPr/>
            </p14:nvContentPartPr>
            <p14:xfrm>
              <a:off x="1293236" y="2719555"/>
              <a:ext cx="4716720" cy="3057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98C400E-7E4A-8D7A-B005-9F03F3651B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7236" y="2647555"/>
                <a:ext cx="4788360" cy="32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6398662B-F890-BD06-4657-E81707703717}"/>
              </a:ext>
            </a:extLst>
          </p:cNvPr>
          <p:cNvGrpSpPr/>
          <p:nvPr/>
        </p:nvGrpSpPr>
        <p:grpSpPr>
          <a:xfrm>
            <a:off x="1115128" y="2530695"/>
            <a:ext cx="10565264" cy="3435200"/>
            <a:chOff x="1115128" y="2530695"/>
            <a:chExt cx="10565264" cy="34352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E17F24-2830-57F8-C945-DC3696A271ED}"/>
                </a:ext>
              </a:extLst>
            </p:cNvPr>
            <p:cNvSpPr txBox="1"/>
            <p:nvPr/>
          </p:nvSpPr>
          <p:spPr>
            <a:xfrm>
              <a:off x="6827397" y="2553625"/>
              <a:ext cx="4852995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i="1" dirty="0">
                  <a:solidFill>
                    <a:srgbClr val="FF0000"/>
                  </a:solidFill>
                </a:rPr>
                <a:t>Minimal: </a:t>
              </a:r>
              <a:r>
                <a:rPr lang="en-GB" sz="3200" b="1" dirty="0">
                  <a:solidFill>
                    <a:srgbClr val="FF0000"/>
                  </a:solidFill>
                </a:rPr>
                <a:t>2</a:t>
              </a:r>
              <a:r>
                <a:rPr lang="en-GB" sz="3200" dirty="0">
                  <a:solidFill>
                    <a:srgbClr val="FF0000"/>
                  </a:solidFill>
                </a:rPr>
                <a:t> intensities</a:t>
              </a:r>
            </a:p>
            <a:p>
              <a:r>
                <a:rPr lang="en-GB" sz="3200" dirty="0">
                  <a:solidFill>
                    <a:srgbClr val="FF0000"/>
                  </a:solidFill>
                </a:rPr>
                <a:t>Can’t discriminate models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E5390F8-6A8E-BFDE-3853-0F61853044FB}"/>
                </a:ext>
              </a:extLst>
            </p:cNvPr>
            <p:cNvGrpSpPr/>
            <p:nvPr/>
          </p:nvGrpSpPr>
          <p:grpSpPr>
            <a:xfrm>
              <a:off x="1115128" y="2530695"/>
              <a:ext cx="5072936" cy="3435200"/>
              <a:chOff x="1115128" y="2530695"/>
              <a:chExt cx="5072936" cy="34352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DB5CD08-7497-784E-5442-B0D8A2A408E2}"/>
                  </a:ext>
                </a:extLst>
              </p:cNvPr>
              <p:cNvSpPr/>
              <p:nvPr/>
            </p:nvSpPr>
            <p:spPr>
              <a:xfrm>
                <a:off x="1115128" y="5553300"/>
                <a:ext cx="412595" cy="41259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B4ED130-0909-A4BF-2117-F46AA27E7115}"/>
                  </a:ext>
                </a:extLst>
              </p:cNvPr>
              <p:cNvSpPr/>
              <p:nvPr/>
            </p:nvSpPr>
            <p:spPr>
              <a:xfrm>
                <a:off x="5775469" y="2530695"/>
                <a:ext cx="412595" cy="41259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DB5C78E-B36F-20C3-F453-5D86F5FC994D}"/>
              </a:ext>
            </a:extLst>
          </p:cNvPr>
          <p:cNvGrpSpPr/>
          <p:nvPr/>
        </p:nvGrpSpPr>
        <p:grpSpPr>
          <a:xfrm>
            <a:off x="1122565" y="2526981"/>
            <a:ext cx="11053347" cy="3446775"/>
            <a:chOff x="1122565" y="2515406"/>
            <a:chExt cx="11053347" cy="34467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C2741A-A046-39F4-1AEA-B22495AF1162}"/>
                </a:ext>
              </a:extLst>
            </p:cNvPr>
            <p:cNvSpPr txBox="1"/>
            <p:nvPr/>
          </p:nvSpPr>
          <p:spPr>
            <a:xfrm>
              <a:off x="6834834" y="3865752"/>
              <a:ext cx="5341078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i="1" dirty="0">
                  <a:solidFill>
                    <a:srgbClr val="7030A0"/>
                  </a:solidFill>
                </a:rPr>
                <a:t>Intermediate: 3</a:t>
              </a:r>
              <a:r>
                <a:rPr lang="en-GB" sz="3200" dirty="0">
                  <a:solidFill>
                    <a:srgbClr val="7030A0"/>
                  </a:solidFill>
                </a:rPr>
                <a:t> intensities</a:t>
              </a:r>
            </a:p>
            <a:p>
              <a:r>
                <a:rPr lang="en-GB" sz="3200" dirty="0">
                  <a:solidFill>
                    <a:srgbClr val="7030A0"/>
                  </a:solidFill>
                </a:rPr>
                <a:t>Can’t discriminate linear/non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4C5CF59-A109-64DA-E8D6-9341A44B7910}"/>
                </a:ext>
              </a:extLst>
            </p:cNvPr>
            <p:cNvGrpSpPr/>
            <p:nvPr/>
          </p:nvGrpSpPr>
          <p:grpSpPr>
            <a:xfrm>
              <a:off x="1122565" y="2515406"/>
              <a:ext cx="5072936" cy="3446775"/>
              <a:chOff x="1122565" y="2515406"/>
              <a:chExt cx="5072936" cy="344677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D41B997-02CA-3428-63DB-C8A6262EA4F6}"/>
                  </a:ext>
                </a:extLst>
              </p:cNvPr>
              <p:cNvSpPr/>
              <p:nvPr/>
            </p:nvSpPr>
            <p:spPr>
              <a:xfrm>
                <a:off x="1122565" y="5549586"/>
                <a:ext cx="412595" cy="412595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594FB4F-FE9B-76FD-5AEF-17E9DA008C76}"/>
                  </a:ext>
                </a:extLst>
              </p:cNvPr>
              <p:cNvSpPr/>
              <p:nvPr/>
            </p:nvSpPr>
            <p:spPr>
              <a:xfrm>
                <a:off x="5782906" y="2515406"/>
                <a:ext cx="412595" cy="412595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8CAA71-6DB7-9D55-77DD-39D5E542B7BF}"/>
                  </a:ext>
                </a:extLst>
              </p:cNvPr>
              <p:cNvSpPr/>
              <p:nvPr/>
            </p:nvSpPr>
            <p:spPr>
              <a:xfrm>
                <a:off x="3256023" y="3904714"/>
                <a:ext cx="412595" cy="412595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396170C-EC8E-DF7F-E9EE-A1C84BED4FAF}"/>
              </a:ext>
            </a:extLst>
          </p:cNvPr>
          <p:cNvGrpSpPr/>
          <p:nvPr/>
        </p:nvGrpSpPr>
        <p:grpSpPr>
          <a:xfrm>
            <a:off x="1126375" y="2530792"/>
            <a:ext cx="10813540" cy="3773988"/>
            <a:chOff x="1126375" y="2530791"/>
            <a:chExt cx="10813540" cy="377398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E16893-5366-1576-4EAD-B786C2545D20}"/>
                </a:ext>
              </a:extLst>
            </p:cNvPr>
            <p:cNvSpPr txBox="1"/>
            <p:nvPr/>
          </p:nvSpPr>
          <p:spPr>
            <a:xfrm>
              <a:off x="6830824" y="5227561"/>
              <a:ext cx="510909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b="1" i="1" dirty="0">
                  <a:solidFill>
                    <a:srgbClr val="0070C0"/>
                  </a:solidFill>
                </a:rPr>
                <a:t>Full: ALL</a:t>
              </a:r>
              <a:r>
                <a:rPr lang="en-GB" sz="3200" dirty="0">
                  <a:solidFill>
                    <a:srgbClr val="0070C0"/>
                  </a:solidFill>
                </a:rPr>
                <a:t> intensities</a:t>
              </a:r>
            </a:p>
            <a:p>
              <a:r>
                <a:rPr lang="en-GB" sz="3200" dirty="0">
                  <a:solidFill>
                    <a:srgbClr val="0070C0"/>
                  </a:solidFill>
                </a:rPr>
                <a:t>Can discriminate linear/non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27D55DF-FDE9-3192-C5E4-4976F54F7D1A}"/>
                </a:ext>
              </a:extLst>
            </p:cNvPr>
            <p:cNvGrpSpPr/>
            <p:nvPr/>
          </p:nvGrpSpPr>
          <p:grpSpPr>
            <a:xfrm>
              <a:off x="1126375" y="2530791"/>
              <a:ext cx="5072936" cy="3435200"/>
              <a:chOff x="1126375" y="2530791"/>
              <a:chExt cx="5072936" cy="34352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034AD24-A8DE-B64B-A8D7-D6B8BCB19CD2}"/>
                  </a:ext>
                </a:extLst>
              </p:cNvPr>
              <p:cNvGrpSpPr/>
              <p:nvPr/>
            </p:nvGrpSpPr>
            <p:grpSpPr>
              <a:xfrm>
                <a:off x="1126375" y="2530791"/>
                <a:ext cx="5072936" cy="3435200"/>
                <a:chOff x="1122565" y="2526981"/>
                <a:chExt cx="5072936" cy="3435200"/>
              </a:xfrm>
              <a:solidFill>
                <a:srgbClr val="0070C0"/>
              </a:solidFill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A772859-D1A0-72D7-CBA9-6FB33526CE14}"/>
                    </a:ext>
                  </a:extLst>
                </p:cNvPr>
                <p:cNvSpPr/>
                <p:nvPr/>
              </p:nvSpPr>
              <p:spPr>
                <a:xfrm>
                  <a:off x="1122565" y="5549586"/>
                  <a:ext cx="412595" cy="41259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8EE0BFC7-943C-997B-4336-3BEFC0A6CAF6}"/>
                    </a:ext>
                  </a:extLst>
                </p:cNvPr>
                <p:cNvSpPr/>
                <p:nvPr/>
              </p:nvSpPr>
              <p:spPr>
                <a:xfrm>
                  <a:off x="5782906" y="2526981"/>
                  <a:ext cx="412595" cy="41259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7A6598C-569D-B318-E3DB-908D13C67DD3}"/>
                    </a:ext>
                  </a:extLst>
                </p:cNvPr>
                <p:cNvSpPr/>
                <p:nvPr/>
              </p:nvSpPr>
              <p:spPr>
                <a:xfrm>
                  <a:off x="3256023" y="3904714"/>
                  <a:ext cx="412595" cy="412595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3D6F8B3-2750-3996-5DF3-CEB00AF446AF}"/>
                  </a:ext>
                </a:extLst>
              </p:cNvPr>
              <p:cNvSpPr/>
              <p:nvPr/>
            </p:nvSpPr>
            <p:spPr>
              <a:xfrm>
                <a:off x="4213186" y="2851892"/>
                <a:ext cx="412595" cy="41259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D5E2513-AEC7-04AF-003B-16A04FB30D1A}"/>
                  </a:ext>
                </a:extLst>
              </p:cNvPr>
              <p:cNvSpPr/>
              <p:nvPr/>
            </p:nvSpPr>
            <p:spPr>
              <a:xfrm>
                <a:off x="5017096" y="2592812"/>
                <a:ext cx="412595" cy="41259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BD130F6-0D67-CF0B-0D36-ED1E2CED65CB}"/>
                  </a:ext>
                </a:extLst>
              </p:cNvPr>
              <p:cNvSpPr/>
              <p:nvPr/>
            </p:nvSpPr>
            <p:spPr>
              <a:xfrm>
                <a:off x="3611206" y="3267182"/>
                <a:ext cx="412595" cy="41259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F6ADE92-AE57-3513-8614-8D669F4018CA}"/>
                  </a:ext>
                </a:extLst>
              </p:cNvPr>
              <p:cNvSpPr/>
              <p:nvPr/>
            </p:nvSpPr>
            <p:spPr>
              <a:xfrm>
                <a:off x="2955710" y="4575975"/>
                <a:ext cx="412595" cy="41259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41CEB74-246C-C77D-5B0D-9D3808468D11}"/>
                  </a:ext>
                </a:extLst>
              </p:cNvPr>
              <p:cNvSpPr/>
              <p:nvPr/>
            </p:nvSpPr>
            <p:spPr>
              <a:xfrm>
                <a:off x="1836904" y="5549586"/>
                <a:ext cx="412595" cy="41259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8CD6024-F88E-710C-989B-E1EC93973203}"/>
                  </a:ext>
                </a:extLst>
              </p:cNvPr>
              <p:cNvSpPr/>
              <p:nvPr/>
            </p:nvSpPr>
            <p:spPr>
              <a:xfrm>
                <a:off x="2547433" y="5227561"/>
                <a:ext cx="412595" cy="41259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EC3C7DF-2226-F445-3F87-C3E9F6B28006}"/>
              </a:ext>
            </a:extLst>
          </p:cNvPr>
          <p:cNvSpPr txBox="1"/>
          <p:nvPr/>
        </p:nvSpPr>
        <p:spPr>
          <a:xfrm>
            <a:off x="267630" y="1527727"/>
            <a:ext cx="11223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Working hypothesis: Corticospinal output is a sigmoid function of TMS intensity</a:t>
            </a:r>
          </a:p>
        </p:txBody>
      </p:sp>
    </p:spTree>
    <p:extLst>
      <p:ext uri="{BB962C8B-B14F-4D97-AF65-F5344CB8AC3E}">
        <p14:creationId xmlns:p14="http://schemas.microsoft.com/office/powerpoint/2010/main" val="215129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3313-58F6-8A14-9A48-6BDBE26F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1284E2-39A4-B505-2011-115E4A06B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0" y="2376000"/>
            <a:ext cx="8345993" cy="396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892E80-278A-9F21-EF4D-784895475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0" y="2379039"/>
            <a:ext cx="8345994" cy="39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741A38-5709-F9D9-F57B-004C9FFA3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0" y="1989392"/>
            <a:ext cx="8345993" cy="4346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62CA09-6460-0EBB-C262-F1A74527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rgbClr val="FF0000"/>
                </a:solidFill>
              </a:rPr>
              <a:t>Data</a:t>
            </a:r>
            <a:endParaRPr lang="en-GB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3F0C1-F3B6-8BFE-5B34-CA21E2CE91C2}"/>
              </a:ext>
            </a:extLst>
          </p:cNvPr>
          <p:cNvSpPr txBox="1"/>
          <p:nvPr/>
        </p:nvSpPr>
        <p:spPr>
          <a:xfrm>
            <a:off x="7759709" y="2553625"/>
            <a:ext cx="4105419" cy="354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i="1" dirty="0"/>
              <a:t>Design: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Discrete (6) vs. Continuous (30)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1100" b="1" i="1" dirty="0"/>
          </a:p>
          <a:p>
            <a:r>
              <a:rPr lang="en-GB" sz="2800" b="1" i="1" dirty="0"/>
              <a:t>Baseline: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Ignored vs. Corrected</a:t>
            </a:r>
            <a:endParaRPr lang="en-GB" sz="1100" dirty="0"/>
          </a:p>
          <a:p>
            <a:endParaRPr lang="en-GB" sz="1050" b="1" i="1" dirty="0"/>
          </a:p>
          <a:p>
            <a:r>
              <a:rPr lang="en-GB" sz="2800" b="1" i="1" dirty="0"/>
              <a:t>Transform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None vs. logarithmic</a:t>
            </a:r>
          </a:p>
          <a:p>
            <a:endParaRPr lang="en-GB" sz="1100" dirty="0"/>
          </a:p>
          <a:p>
            <a:r>
              <a:rPr lang="en-GB" sz="2800" b="1" i="1" dirty="0"/>
              <a:t>Measure</a:t>
            </a:r>
            <a:r>
              <a:rPr lang="en-GB" sz="2800" b="1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P-2-P vs. A-U-C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B5390-4CEC-749E-149E-A8A16613C9C2}"/>
              </a:ext>
            </a:extLst>
          </p:cNvPr>
          <p:cNvSpPr txBox="1"/>
          <p:nvPr/>
        </p:nvSpPr>
        <p:spPr>
          <a:xfrm>
            <a:off x="267630" y="1527727"/>
            <a:ext cx="11223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Working hypothesis: Corticospinal output is a sigmoid function of TMS intensity</a:t>
            </a:r>
          </a:p>
        </p:txBody>
      </p:sp>
    </p:spTree>
    <p:extLst>
      <p:ext uri="{BB962C8B-B14F-4D97-AF65-F5344CB8AC3E}">
        <p14:creationId xmlns:p14="http://schemas.microsoft.com/office/powerpoint/2010/main" val="218597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75F3-FFDC-DAA3-C8D8-EC04055A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2D52-6F95-E228-8592-C8727457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rgbClr val="FF0000"/>
                </a:solidFill>
              </a:rPr>
              <a:t>Data</a:t>
            </a:r>
            <a:endParaRPr lang="en-GB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442E7-C1DD-667C-C6B4-304E776F5FA7}"/>
              </a:ext>
            </a:extLst>
          </p:cNvPr>
          <p:cNvSpPr txBox="1"/>
          <p:nvPr/>
        </p:nvSpPr>
        <p:spPr>
          <a:xfrm>
            <a:off x="1057510" y="6400802"/>
            <a:ext cx="10100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/>
              <a:t>Best fit = </a:t>
            </a:r>
            <a:r>
              <a:rPr lang="en-GB" sz="2000" b="1" dirty="0"/>
              <a:t>continuous design, baseline-corrected, log-transformed, peak-to-peak MEPs</a:t>
            </a:r>
          </a:p>
        </p:txBody>
      </p:sp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2222D9CA-C21D-EAF3-F6E4-ECFD2B583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9" y="1286878"/>
            <a:ext cx="11500625" cy="51139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76D199-59CD-6CAF-76B1-5A44B6FABFF3}"/>
              </a:ext>
            </a:extLst>
          </p:cNvPr>
          <p:cNvSpPr/>
          <p:nvPr/>
        </p:nvSpPr>
        <p:spPr>
          <a:xfrm>
            <a:off x="1130300" y="1363078"/>
            <a:ext cx="10883900" cy="465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A4EDB9-47D1-ECF5-09FE-81E25C5218C7}"/>
              </a:ext>
            </a:extLst>
          </p:cNvPr>
          <p:cNvSpPr/>
          <p:nvPr/>
        </p:nvSpPr>
        <p:spPr>
          <a:xfrm>
            <a:off x="3446035" y="1281304"/>
            <a:ext cx="8745965" cy="465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0F701-9D6F-7A86-11CC-C78A387F9311}"/>
              </a:ext>
            </a:extLst>
          </p:cNvPr>
          <p:cNvSpPr/>
          <p:nvPr/>
        </p:nvSpPr>
        <p:spPr>
          <a:xfrm>
            <a:off x="6096000" y="1277590"/>
            <a:ext cx="6031262" cy="465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9DCEB-6C59-4703-AB3B-DD042190ADF5}"/>
              </a:ext>
            </a:extLst>
          </p:cNvPr>
          <p:cNvSpPr/>
          <p:nvPr/>
        </p:nvSpPr>
        <p:spPr>
          <a:xfrm>
            <a:off x="9065941" y="1285026"/>
            <a:ext cx="3126059" cy="465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43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41A2-0B86-9E6D-1C7A-ADE2D0A1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F351-6DCF-6F38-7AE6-D31C5567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868"/>
            <a:ext cx="10515600" cy="1325563"/>
          </a:xfrm>
        </p:spPr>
        <p:txBody>
          <a:bodyPr/>
          <a:lstStyle/>
          <a:p>
            <a:r>
              <a:rPr lang="en-GB" dirty="0" err="1"/>
              <a:t>So.</a:t>
            </a:r>
            <a:r>
              <a:rPr lang="en-GB" dirty="0"/>
              <a:t>.?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F2E6E-4165-966F-A103-79375AAE9F8E}"/>
              </a:ext>
            </a:extLst>
          </p:cNvPr>
          <p:cNvSpPr txBox="1"/>
          <p:nvPr/>
        </p:nvSpPr>
        <p:spPr>
          <a:xfrm>
            <a:off x="1289784" y="1684541"/>
            <a:ext cx="8833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Test TMS methods using D-R curve fits (R^2) as a DV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D1E85-677E-BBBF-559C-4EC5A372F802}"/>
              </a:ext>
            </a:extLst>
          </p:cNvPr>
          <p:cNvSpPr txBox="1"/>
          <p:nvPr/>
        </p:nvSpPr>
        <p:spPr>
          <a:xfrm>
            <a:off x="1297809" y="2443333"/>
            <a:ext cx="4780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Background EMG 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3B5C8-A20D-5F7B-EEF1-051693925C85}"/>
              </a:ext>
            </a:extLst>
          </p:cNvPr>
          <p:cNvSpPr txBox="1"/>
          <p:nvPr/>
        </p:nvSpPr>
        <p:spPr>
          <a:xfrm>
            <a:off x="1296205" y="3144376"/>
            <a:ext cx="4046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MEP measurements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52106-3574-48C4-B7D2-1E5BFC8F2A39}"/>
              </a:ext>
            </a:extLst>
          </p:cNvPr>
          <p:cNvSpPr txBox="1"/>
          <p:nvPr/>
        </p:nvSpPr>
        <p:spPr>
          <a:xfrm>
            <a:off x="1302622" y="4565709"/>
            <a:ext cx="6193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Cognitive effects on motor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57407-1724-8390-1DC1-4A342E53E7EE}"/>
              </a:ext>
            </a:extLst>
          </p:cNvPr>
          <p:cNvSpPr txBox="1"/>
          <p:nvPr/>
        </p:nvSpPr>
        <p:spPr>
          <a:xfrm>
            <a:off x="1303642" y="3910092"/>
            <a:ext cx="8208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Effects of motor preparation, conflict, imagery?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CEC5E-2690-637A-5F5B-53EA7BE8A609}"/>
              </a:ext>
            </a:extLst>
          </p:cNvPr>
          <p:cNvSpPr txBox="1"/>
          <p:nvPr/>
        </p:nvSpPr>
        <p:spPr>
          <a:xfrm>
            <a:off x="1298906" y="5286812"/>
            <a:ext cx="9568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More widely? Then we need other dose-response curves</a:t>
            </a:r>
          </a:p>
        </p:txBody>
      </p:sp>
    </p:spTree>
    <p:extLst>
      <p:ext uri="{BB962C8B-B14F-4D97-AF65-F5344CB8AC3E}">
        <p14:creationId xmlns:p14="http://schemas.microsoft.com/office/powerpoint/2010/main" val="139089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8BD9-553F-2A38-80D1-0C7E99BE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D10B-A99A-AA3E-E115-EA515950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868"/>
            <a:ext cx="10515600" cy="1325563"/>
          </a:xfrm>
        </p:spPr>
        <p:txBody>
          <a:bodyPr/>
          <a:lstStyle/>
          <a:p>
            <a:r>
              <a:rPr lang="en-GB" b="1" dirty="0"/>
              <a:t>Discussion</a:t>
            </a:r>
            <a:r>
              <a:rPr lang="en-GB" dirty="0"/>
              <a:t>: Would this work for your study?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A15C6-6BD4-1397-23B3-8E58C77BD15C}"/>
              </a:ext>
            </a:extLst>
          </p:cNvPr>
          <p:cNvSpPr txBox="1"/>
          <p:nvPr/>
        </p:nvSpPr>
        <p:spPr>
          <a:xfrm>
            <a:off x="2408665" y="5999357"/>
            <a:ext cx="7384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Dose-response code (MATLAB) is </a:t>
            </a:r>
            <a:r>
              <a:rPr lang="en-GB" sz="2800" dirty="0">
                <a:hlinkClick r:id="rId2"/>
              </a:rPr>
              <a:t>on the </a:t>
            </a:r>
            <a:r>
              <a:rPr lang="en-GB" sz="2800" dirty="0" err="1">
                <a:hlinkClick r:id="rId2"/>
              </a:rPr>
              <a:t>github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53196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749</TotalTime>
  <Words>406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Comic Sans MS</vt:lpstr>
      <vt:lpstr>Office Theme</vt:lpstr>
      <vt:lpstr>Dose-response (input-output) curves:  Ground truth for testing TMS methods?</vt:lpstr>
      <vt:lpstr>How do you..?</vt:lpstr>
      <vt:lpstr>PowerPoint Presentation</vt:lpstr>
      <vt:lpstr>Model</vt:lpstr>
      <vt:lpstr>Theory predicts baseline (y) increase</vt:lpstr>
      <vt:lpstr>Theory predicts threshold (x) increase</vt:lpstr>
      <vt:lpstr>Theory predicts growth (y/x) increase</vt:lpstr>
      <vt:lpstr>Theory predicts plateau (y) decrease</vt:lpstr>
      <vt:lpstr>Testing theories with (motor) TMS</vt:lpstr>
      <vt:lpstr>Model</vt:lpstr>
      <vt:lpstr>Model testing</vt:lpstr>
      <vt:lpstr>Data</vt:lpstr>
      <vt:lpstr>Data</vt:lpstr>
      <vt:lpstr>So..?</vt:lpstr>
      <vt:lpstr>Discussion: Would this work for your study?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Holmes (Sport, Exercise and Rehabilitation Sciences)</dc:creator>
  <cp:lastModifiedBy>Nicholas Holmes (Sport, Exercise and Rehabilitation Sciences)</cp:lastModifiedBy>
  <cp:revision>84</cp:revision>
  <dcterms:created xsi:type="dcterms:W3CDTF">2025-12-21T20:07:47Z</dcterms:created>
  <dcterms:modified xsi:type="dcterms:W3CDTF">2026-02-27T14:59:57Z</dcterms:modified>
</cp:coreProperties>
</file>